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Lato"/>
      <p:bold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bold r:id="rId25"/>
      <p:boldItalic r:id="rId26"/>
    </p:embeddedFont>
    <p:embeddedFont>
      <p:font typeface="Urbanist ExtraBold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lwSmApMPhSy0i1OR9Krh1PcXD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bold.fntdata"/><Relationship Id="rId28" Type="http://schemas.openxmlformats.org/officeDocument/2006/relationships/font" Target="fonts/UrbanistExtraBold-boldItalic.fntdata"/><Relationship Id="rId27" Type="http://schemas.openxmlformats.org/officeDocument/2006/relationships/font" Target="fonts/Urbanis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273e53a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f7273e53a2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273e53a2_3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7273e53a2_3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191f008a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f7191f008a_0_5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273e53a2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7273e53a2_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7191f008a_0_7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7191f008a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7191f00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f7191f008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191f00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f7191f008a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7191f008a_1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f7191f008a_1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7191f008a_1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f7191f008a_10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7191f008a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f7191f008a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191f008a_9_0)">
  <p:cSld name="Generated (g3f7191f008a_9_0)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9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9" Type="http://schemas.openxmlformats.org/officeDocument/2006/relationships/image" Target="../media/image46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Relationship Id="rId7" Type="http://schemas.openxmlformats.org/officeDocument/2006/relationships/image" Target="../media/image35.png"/><Relationship Id="rId8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0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g3f7273e53a2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f7273e53a2_1_1"/>
          <p:cNvSpPr/>
          <p:nvPr/>
        </p:nvSpPr>
        <p:spPr>
          <a:xfrm>
            <a:off x="510775" y="1244163"/>
            <a:ext cx="1104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g3f7273e53a2_1_1"/>
          <p:cNvGrpSpPr/>
          <p:nvPr/>
        </p:nvGrpSpPr>
        <p:grpSpPr>
          <a:xfrm>
            <a:off x="510775" y="2773413"/>
            <a:ext cx="11049000" cy="3333900"/>
            <a:chOff x="571500" y="2952750"/>
            <a:chExt cx="11049000" cy="3333900"/>
          </a:xfrm>
        </p:grpSpPr>
        <p:sp>
          <p:nvSpPr>
            <p:cNvPr id="88" name="Google Shape;88;g3f7273e53a2_1_1"/>
            <p:cNvSpPr/>
            <p:nvPr/>
          </p:nvSpPr>
          <p:spPr>
            <a:xfrm>
              <a:off x="571500" y="2952750"/>
              <a:ext cx="11049000" cy="3333900"/>
            </a:xfrm>
            <a:prstGeom prst="roundRect">
              <a:avLst>
                <a:gd fmla="val 4571" name="adj"/>
              </a:avLst>
            </a:prstGeom>
            <a:solidFill>
              <a:srgbClr val="080D1A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g3f7273e53a2_1_1"/>
            <p:cNvSpPr/>
            <p:nvPr/>
          </p:nvSpPr>
          <p:spPr>
            <a:xfrm>
              <a:off x="571500" y="2952750"/>
              <a:ext cx="11049000" cy="457200"/>
            </a:xfrm>
            <a:prstGeom prst="roundRect">
              <a:avLst>
                <a:gd fmla="val 33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f7273e53a2_1_1"/>
            <p:cNvSpPr/>
            <p:nvPr/>
          </p:nvSpPr>
          <p:spPr>
            <a:xfrm>
              <a:off x="571500" y="3257550"/>
              <a:ext cx="11049000" cy="152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1" name="Google Shape;91;g3f7273e53a2_1_1"/>
            <p:cNvCxnSpPr/>
            <p:nvPr/>
          </p:nvCxnSpPr>
          <p:spPr>
            <a:xfrm>
              <a:off x="571500" y="3409950"/>
              <a:ext cx="1104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2" name="Google Shape;92;g3f7273e53a2_1_1"/>
            <p:cNvGrpSpPr/>
            <p:nvPr/>
          </p:nvGrpSpPr>
          <p:grpSpPr>
            <a:xfrm>
              <a:off x="762000" y="3048000"/>
              <a:ext cx="1428900" cy="266700"/>
              <a:chOff x="762000" y="3048000"/>
              <a:chExt cx="1428900" cy="266700"/>
            </a:xfrm>
          </p:grpSpPr>
          <p:sp>
            <p:nvSpPr>
              <p:cNvPr id="93" name="Google Shape;93;g3f7273e53a2_1_1"/>
              <p:cNvSpPr/>
              <p:nvPr/>
            </p:nvSpPr>
            <p:spPr>
              <a:xfrm>
                <a:off x="762000" y="3048000"/>
                <a:ext cx="14289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00E5FF">
                  <a:alpha val="15000"/>
                </a:srgbClr>
              </a:solidFill>
              <a:ln cap="flat" cmpd="sng" w="9525">
                <a:solidFill>
                  <a:srgbClr val="00E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g3f7273e53a2_1_1"/>
              <p:cNvSpPr txBox="1"/>
              <p:nvPr/>
            </p:nvSpPr>
            <p:spPr>
              <a:xfrm>
                <a:off x="762000" y="3048000"/>
                <a:ext cx="1428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E5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● OVERVIEW</a:t>
                </a:r>
                <a:endParaRPr b="1" sz="1000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95" name="Google Shape;95;g3f7273e53a2_1_1"/>
            <p:cNvGrpSpPr/>
            <p:nvPr/>
          </p:nvGrpSpPr>
          <p:grpSpPr>
            <a:xfrm>
              <a:off x="10572750" y="3048000"/>
              <a:ext cx="952500" cy="266700"/>
              <a:chOff x="10572750" y="3048000"/>
              <a:chExt cx="952500" cy="266700"/>
            </a:xfrm>
          </p:grpSpPr>
          <p:sp>
            <p:nvSpPr>
              <p:cNvPr id="96" name="Google Shape;96;g3f7273e53a2_1_1"/>
              <p:cNvSpPr/>
              <p:nvPr/>
            </p:nvSpPr>
            <p:spPr>
              <a:xfrm>
                <a:off x="10572750" y="3133725"/>
                <a:ext cx="95400" cy="95400"/>
              </a:xfrm>
              <a:prstGeom prst="ellipse">
                <a:avLst/>
              </a:prstGeom>
              <a:solidFill>
                <a:srgbClr val="4ADE8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g3f7273e53a2_1_1"/>
              <p:cNvSpPr txBox="1"/>
              <p:nvPr/>
            </p:nvSpPr>
            <p:spPr>
              <a:xfrm>
                <a:off x="10763250" y="3048000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4ADE80"/>
                    </a:solidFill>
                    <a:latin typeface="Lato"/>
                    <a:ea typeface="Lato"/>
                    <a:cs typeface="Lato"/>
                    <a:sym typeface="Lato"/>
                  </a:rPr>
                  <a:t>ACTIVE</a:t>
                </a:r>
                <a:endParaRPr b="1" sz="900">
                  <a:solidFill>
                    <a:srgbClr val="4ADE8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8" name="Google Shape;98;g3f7273e53a2_1_1"/>
            <p:cNvGrpSpPr/>
            <p:nvPr/>
          </p:nvGrpSpPr>
          <p:grpSpPr>
            <a:xfrm>
              <a:off x="762000" y="3667125"/>
              <a:ext cx="1905000" cy="2333700"/>
              <a:chOff x="762000" y="3667125"/>
              <a:chExt cx="1905000" cy="2333700"/>
            </a:xfrm>
          </p:grpSpPr>
          <p:sp>
            <p:nvSpPr>
              <p:cNvPr id="99" name="Google Shape;99;g3f7273e53a2_1_1"/>
              <p:cNvSpPr/>
              <p:nvPr/>
            </p:nvSpPr>
            <p:spPr>
              <a:xfrm>
                <a:off x="762000" y="3667125"/>
                <a:ext cx="1905000" cy="2333700"/>
              </a:xfrm>
              <a:prstGeom prst="roundRect">
                <a:avLst>
                  <a:gd fmla="val 6000" name="adj"/>
                </a:avLst>
              </a:prstGeom>
              <a:solidFill>
                <a:srgbClr val="0B132B"/>
              </a:solidFill>
              <a:ln cap="flat" cmpd="sng" w="1430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g3f7273e53a2_1_1"/>
              <p:cNvSpPr txBox="1"/>
              <p:nvPr/>
            </p:nvSpPr>
            <p:spPr>
              <a:xfrm>
                <a:off x="762000" y="3667125"/>
                <a:ext cx="1905000" cy="233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00">
                    <a:solidFill>
                      <a:srgbClr val="00E5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account_circle</a:t>
                </a:r>
                <a:endParaRPr sz="56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Verified Identity</a:t>
                </a:r>
                <a:endParaRPr sz="56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01" name="Google Shape;101;g3f7273e53a2_1_1"/>
            <p:cNvSpPr txBox="1"/>
            <p:nvPr/>
          </p:nvSpPr>
          <p:spPr>
            <a:xfrm>
              <a:off x="2952750" y="3667125"/>
              <a:ext cx="83820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Debjit Dutta</a:t>
              </a:r>
              <a:endParaRPr b="0" sz="32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E5FF"/>
                  </a:solidFill>
                  <a:latin typeface="Lato"/>
                  <a:ea typeface="Lato"/>
                  <a:cs typeface="Lato"/>
                  <a:sym typeface="Lato"/>
                </a:rPr>
                <a:t>PRIMARY ROLE</a:t>
              </a:r>
              <a:endParaRPr b="1" sz="1000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rPr>
                <a:t>AI Project Manager &amp; Concept Lead (Simulated 'Chief Systems Engineer' for the challenge)</a:t>
              </a:r>
              <a:endParaRPr b="0" sz="1400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SECURITY ACCESS</a:t>
              </a:r>
              <a:endParaRPr b="1" sz="1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SYSTEM STATUS</a:t>
              </a:r>
              <a:endParaRPr b="1"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ADE80"/>
                  </a:solidFill>
                  <a:latin typeface="Urbanist"/>
                  <a:ea typeface="Urbanist"/>
                  <a:cs typeface="Urbanist"/>
                  <a:sym typeface="Urbanist"/>
                </a:rPr>
                <a:t>NOMINAL // CONNECTED</a:t>
              </a:r>
              <a:endParaRPr b="1" sz="120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02" name="Google Shape;102;g3f7273e53a2_1_1"/>
          <p:cNvSpPr txBox="1"/>
          <p:nvPr/>
        </p:nvSpPr>
        <p:spPr>
          <a:xfrm>
            <a:off x="504825" y="742950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PROJECT </a:t>
            </a:r>
            <a:r>
              <a:rPr b="0" lang="en-US" sz="3800">
                <a:solidFill>
                  <a:srgbClr val="00E5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ARTEMIS</a:t>
            </a:r>
            <a:r>
              <a:rPr b="0" lang="en-US" sz="3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-X</a:t>
            </a:r>
            <a:endParaRPr b="0" sz="38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SUSTAINABLE LUNAR SOUTH POLE ARCHITECTURE  |  </a:t>
            </a:r>
            <a:r>
              <a:rPr b="0" lang="en-US" sz="1400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LUNAR BASE DESIGN CHALLENGE</a:t>
            </a:r>
            <a:endParaRPr b="0" sz="1400">
              <a:solidFill>
                <a:srgbClr val="B3B9C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g3f7273e53a2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825" y="2143125"/>
            <a:ext cx="11049000" cy="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f7273e53a2_3_3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7273e53a2_3_305"/>
          <p:cNvSpPr txBox="1"/>
          <p:nvPr/>
        </p:nvSpPr>
        <p:spPr>
          <a:xfrm>
            <a:off x="504825" y="742950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PROJECT </a:t>
            </a:r>
            <a:r>
              <a:rPr b="0" lang="en-US" sz="3800">
                <a:solidFill>
                  <a:srgbClr val="00E5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ARTEMIS</a:t>
            </a:r>
            <a:r>
              <a:rPr b="0" lang="en-US" sz="3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-X</a:t>
            </a:r>
            <a:endParaRPr b="0" sz="38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SUSTAINABLE LUNAR SOUTH POLE ARCHITECTURE  |  </a:t>
            </a:r>
            <a:r>
              <a:rPr b="0" lang="en-US" sz="1400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LUNAR BASE DESIGN CHALLENGE</a:t>
            </a:r>
            <a:endParaRPr b="0" sz="1400">
              <a:solidFill>
                <a:srgbClr val="B3B9C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g3f7273e53a2_3_3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825" y="2143125"/>
            <a:ext cx="11049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g3f7273e53a2_3_305"/>
          <p:cNvGrpSpPr/>
          <p:nvPr/>
        </p:nvGrpSpPr>
        <p:grpSpPr>
          <a:xfrm>
            <a:off x="495300" y="2419350"/>
            <a:ext cx="11068200" cy="3924300"/>
            <a:chOff x="495300" y="2419350"/>
            <a:chExt cx="11068200" cy="3924300"/>
          </a:xfrm>
        </p:grpSpPr>
        <p:pic>
          <p:nvPicPr>
            <p:cNvPr id="112" name="Google Shape;112;g3f7273e53a2_3_30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2419350"/>
              <a:ext cx="11068200" cy="392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g3f7273e53a2_3_30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4825" y="2428875"/>
              <a:ext cx="110490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g3f7273e53a2_3_305"/>
            <p:cNvSpPr/>
            <p:nvPr/>
          </p:nvSpPr>
          <p:spPr>
            <a:xfrm>
              <a:off x="504825" y="2733675"/>
              <a:ext cx="11049000" cy="152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" name="Google Shape;115;g3f7273e53a2_3_305"/>
            <p:cNvGrpSpPr/>
            <p:nvPr/>
          </p:nvGrpSpPr>
          <p:grpSpPr>
            <a:xfrm>
              <a:off x="690563" y="2519363"/>
              <a:ext cx="1724100" cy="276300"/>
              <a:chOff x="690563" y="2519363"/>
              <a:chExt cx="1724100" cy="276300"/>
            </a:xfrm>
          </p:grpSpPr>
          <p:pic>
            <p:nvPicPr>
              <p:cNvPr id="116" name="Google Shape;116;g3f7273e53a2_3_30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90563" y="2519363"/>
                <a:ext cx="1724100" cy="276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g3f7273e53a2_3_305"/>
              <p:cNvSpPr txBox="1"/>
              <p:nvPr/>
            </p:nvSpPr>
            <p:spPr>
              <a:xfrm>
                <a:off x="695325" y="2524125"/>
                <a:ext cx="17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E5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● PROJECT OBJECTIVE</a:t>
                </a:r>
                <a:endParaRPr b="1" sz="1000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18" name="Google Shape;118;g3f7273e53a2_3_305"/>
            <p:cNvGrpSpPr/>
            <p:nvPr/>
          </p:nvGrpSpPr>
          <p:grpSpPr>
            <a:xfrm>
              <a:off x="10601325" y="2524125"/>
              <a:ext cx="952500" cy="266700"/>
              <a:chOff x="10601325" y="2524125"/>
              <a:chExt cx="952500" cy="266700"/>
            </a:xfrm>
          </p:grpSpPr>
          <p:sp>
            <p:nvSpPr>
              <p:cNvPr id="119" name="Google Shape;119;g3f7273e53a2_3_305"/>
              <p:cNvSpPr/>
              <p:nvPr/>
            </p:nvSpPr>
            <p:spPr>
              <a:xfrm>
                <a:off x="10601325" y="2609850"/>
                <a:ext cx="95400" cy="95400"/>
              </a:xfrm>
              <a:prstGeom prst="ellipse">
                <a:avLst/>
              </a:prstGeom>
              <a:solidFill>
                <a:srgbClr val="4ADE8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f7273e53a2_3_305"/>
              <p:cNvSpPr txBox="1"/>
              <p:nvPr/>
            </p:nvSpPr>
            <p:spPr>
              <a:xfrm>
                <a:off x="10791825" y="2524125"/>
                <a:ext cx="762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765">
                    <a:solidFill>
                      <a:srgbClr val="4ADE80"/>
                    </a:solidFill>
                    <a:latin typeface="Lato"/>
                    <a:ea typeface="Lato"/>
                    <a:cs typeface="Lato"/>
                    <a:sym typeface="Lato"/>
                  </a:rPr>
                  <a:t>MANAGEMENT</a:t>
                </a:r>
                <a:endParaRPr b="1" sz="765">
                  <a:solidFill>
                    <a:srgbClr val="4ADE8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21" name="Google Shape;121;g3f7273e53a2_3_305"/>
            <p:cNvSpPr txBox="1"/>
            <p:nvPr/>
          </p:nvSpPr>
          <p:spPr>
            <a:xfrm>
              <a:off x="762000" y="3095625"/>
              <a:ext cx="1047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  <a:t>Orchestrating AI to Build the Future</a:t>
              </a:r>
              <a:endParaRPr b="1" sz="22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rPr>
                <a:t>To demonstrate technical project management, rapid prototyping, and AI orchestration by acting as a director for AI coding assistants, rather than hand-coding a 3D environment from scratch or engineering real-world aerospace hardware. Here is how management shaped this design:</a:t>
              </a:r>
              <a:endParaRPr b="0" sz="1300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22" name="Google Shape;122;g3f7273e53a2_3_305"/>
            <p:cNvGrpSpPr/>
            <p:nvPr/>
          </p:nvGrpSpPr>
          <p:grpSpPr>
            <a:xfrm>
              <a:off x="762000" y="4238625"/>
              <a:ext cx="3238500" cy="1809600"/>
              <a:chOff x="762000" y="4238625"/>
              <a:chExt cx="3238500" cy="1809600"/>
            </a:xfrm>
          </p:grpSpPr>
          <p:sp>
            <p:nvSpPr>
              <p:cNvPr id="123" name="Google Shape;123;g3f7273e53a2_3_305"/>
              <p:cNvSpPr/>
              <p:nvPr/>
            </p:nvSpPr>
            <p:spPr>
              <a:xfrm>
                <a:off x="762000" y="4238625"/>
                <a:ext cx="3238500" cy="1809600"/>
              </a:xfrm>
              <a:prstGeom prst="roundRect">
                <a:avLst>
                  <a:gd fmla="val 4210" name="adj"/>
                </a:avLst>
              </a:prstGeom>
              <a:solidFill>
                <a:srgbClr val="0B132B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f7273e53a2_3_305"/>
              <p:cNvSpPr txBox="1"/>
              <p:nvPr/>
            </p:nvSpPr>
            <p:spPr>
              <a:xfrm>
                <a:off x="952500" y="4464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0E5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endParaRPr b="0" sz="24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5" name="Google Shape;125;g3f7273e53a2_3_305"/>
              <p:cNvSpPr txBox="1"/>
              <p:nvPr/>
            </p:nvSpPr>
            <p:spPr>
              <a:xfrm>
                <a:off x="952500" y="4905375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Prompt Engineering</a:t>
                </a:r>
                <a:endParaRPr b="1" sz="16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B3B9C5"/>
                    </a:solidFill>
                    <a:latin typeface="Lato"/>
                    <a:ea typeface="Lato"/>
                    <a:cs typeface="Lato"/>
                    <a:sym typeface="Lato"/>
                  </a:rPr>
                  <a:t>Translated strict aerospace design constraints into programmatic prompts to guide AI code generation.</a:t>
                </a:r>
                <a:endParaRPr b="0" sz="1200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6" name="Google Shape;126;g3f7273e53a2_3_305"/>
            <p:cNvGrpSpPr/>
            <p:nvPr/>
          </p:nvGrpSpPr>
          <p:grpSpPr>
            <a:xfrm>
              <a:off x="4429125" y="4238625"/>
              <a:ext cx="3238500" cy="1809600"/>
              <a:chOff x="4429125" y="4238625"/>
              <a:chExt cx="3238500" cy="1809600"/>
            </a:xfrm>
          </p:grpSpPr>
          <p:sp>
            <p:nvSpPr>
              <p:cNvPr id="127" name="Google Shape;127;g3f7273e53a2_3_305"/>
              <p:cNvSpPr/>
              <p:nvPr/>
            </p:nvSpPr>
            <p:spPr>
              <a:xfrm>
                <a:off x="4429125" y="4238625"/>
                <a:ext cx="3238500" cy="1809600"/>
              </a:xfrm>
              <a:prstGeom prst="roundRect">
                <a:avLst>
                  <a:gd fmla="val 4210" name="adj"/>
                </a:avLst>
              </a:prstGeom>
              <a:solidFill>
                <a:srgbClr val="0B132B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g3f7273e53a2_3_305"/>
              <p:cNvSpPr txBox="1"/>
              <p:nvPr/>
            </p:nvSpPr>
            <p:spPr>
              <a:xfrm>
                <a:off x="4619625" y="4464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0E5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integration_instructions</a:t>
                </a:r>
                <a:endParaRPr b="0" sz="24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9" name="Google Shape;129;g3f7273e53a2_3_305"/>
              <p:cNvSpPr txBox="1"/>
              <p:nvPr/>
            </p:nvSpPr>
            <p:spPr>
              <a:xfrm>
                <a:off x="4619625" y="4905375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Asset Integration</a:t>
                </a:r>
                <a:endParaRPr b="1" sz="16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B3B9C5"/>
                    </a:solidFill>
                    <a:latin typeface="Lato"/>
                    <a:ea typeface="Lato"/>
                    <a:cs typeface="Lato"/>
                    <a:sym typeface="Lato"/>
                  </a:rPr>
                  <a:t>Managed the integration of multiple AI-generated geometries (Starships, Solar Towers, Kevlar Domes) into a cohesive WebGL scene.</a:t>
                </a:r>
                <a:endParaRPr b="0" sz="1200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" name="Google Shape;130;g3f7273e53a2_3_305"/>
            <p:cNvGrpSpPr/>
            <p:nvPr/>
          </p:nvGrpSpPr>
          <p:grpSpPr>
            <a:xfrm>
              <a:off x="8096250" y="4238625"/>
              <a:ext cx="3238500" cy="1809600"/>
              <a:chOff x="8096250" y="4238625"/>
              <a:chExt cx="3238500" cy="1809600"/>
            </a:xfrm>
          </p:grpSpPr>
          <p:sp>
            <p:nvSpPr>
              <p:cNvPr id="131" name="Google Shape;131;g3f7273e53a2_3_305"/>
              <p:cNvSpPr/>
              <p:nvPr/>
            </p:nvSpPr>
            <p:spPr>
              <a:xfrm>
                <a:off x="8096250" y="4238625"/>
                <a:ext cx="3238500" cy="1809600"/>
              </a:xfrm>
              <a:prstGeom prst="roundRect">
                <a:avLst>
                  <a:gd fmla="val 4210" name="adj"/>
                </a:avLst>
              </a:prstGeom>
              <a:solidFill>
                <a:srgbClr val="0B132B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g3f7273e53a2_3_305"/>
              <p:cNvSpPr txBox="1"/>
              <p:nvPr/>
            </p:nvSpPr>
            <p:spPr>
              <a:xfrm>
                <a:off x="8286750" y="4464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0E5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bug_report</a:t>
                </a:r>
                <a:endParaRPr b="0" sz="24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3" name="Google Shape;133;g3f7273e53a2_3_305"/>
              <p:cNvSpPr txBox="1"/>
              <p:nvPr/>
            </p:nvSpPr>
            <p:spPr>
              <a:xfrm>
                <a:off x="8286750" y="4905375"/>
                <a:ext cx="2857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Quality Assurance</a:t>
                </a:r>
                <a:endParaRPr b="1" sz="16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B3B9C5"/>
                    </a:solidFill>
                    <a:latin typeface="Lato"/>
                    <a:ea typeface="Lato"/>
                    <a:cs typeface="Lato"/>
                    <a:sym typeface="Lato"/>
                  </a:rPr>
                  <a:t>Acted as the technical reviewer, debugging and refining the AI-generated JavaScript to ensure a performant browser experience.</a:t>
                </a:r>
                <a:endParaRPr b="0" sz="1200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g3f7191f008a_0_5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7191f008a_0_546"/>
          <p:cNvSpPr txBox="1"/>
          <p:nvPr/>
        </p:nvSpPr>
        <p:spPr>
          <a:xfrm>
            <a:off x="449175" y="1362013"/>
            <a:ext cx="5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Mission </a:t>
            </a:r>
            <a:r>
              <a:rPr b="1" i="0" lang="en-US" sz="3000" u="none" cap="none" strike="noStrike">
                <a:solidFill>
                  <a:srgbClr val="005B9F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7191f008a_0_546"/>
          <p:cNvSpPr/>
          <p:nvPr/>
        </p:nvSpPr>
        <p:spPr>
          <a:xfrm>
            <a:off x="317325" y="1118150"/>
            <a:ext cx="5540700" cy="34500"/>
          </a:xfrm>
          <a:prstGeom prst="rect">
            <a:avLst/>
          </a:prstGeom>
          <a:solidFill>
            <a:srgbClr val="005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7191f008a_0_546"/>
          <p:cNvSpPr txBox="1"/>
          <p:nvPr/>
        </p:nvSpPr>
        <p:spPr>
          <a:xfrm>
            <a:off x="449175" y="2505013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7191f008a_0_546"/>
          <p:cNvSpPr txBox="1"/>
          <p:nvPr/>
        </p:nvSpPr>
        <p:spPr>
          <a:xfrm>
            <a:off x="449175" y="3009838"/>
            <a:ext cx="5277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Situated at the South Pole's Shackleton Crater, our architecture exploits near-constant solar illumination and proximity to permanently shadowed regions (PSRs) rich in water 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7191f008a_0_546"/>
          <p:cNvSpPr txBox="1"/>
          <p:nvPr/>
        </p:nvSpPr>
        <p:spPr>
          <a:xfrm>
            <a:off x="449175" y="4118458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7B4C"/>
                </a:solidFill>
                <a:latin typeface="Urbanist"/>
                <a:ea typeface="Urbanist"/>
                <a:cs typeface="Urbanist"/>
                <a:sym typeface="Urbanist"/>
              </a:rPr>
              <a:t>Zero-Waste Paradigm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7191f008a_0_546"/>
          <p:cNvSpPr txBox="1"/>
          <p:nvPr/>
        </p:nvSpPr>
        <p:spPr>
          <a:xfrm>
            <a:off x="449175" y="4623283"/>
            <a:ext cx="5277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Operating on a strict closed-loop ecosystem, the base utilizes advanced In-Situ Resource Utilization (ISRU) to achieve unprecedented Earth-independence and sustainability.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f7191f008a_0_5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9950" y="563488"/>
            <a:ext cx="5765825" cy="576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7273e53a2_1_105"/>
          <p:cNvSpPr txBox="1"/>
          <p:nvPr/>
        </p:nvSpPr>
        <p:spPr>
          <a:xfrm>
            <a:off x="571500" y="571500"/>
            <a:ext cx="54294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Structural Architecture</a:t>
            </a:r>
            <a:endParaRPr b="1" sz="3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" name="Google Shape;151;g3f7273e53a2_1_105"/>
          <p:cNvSpPr/>
          <p:nvPr/>
        </p:nvSpPr>
        <p:spPr>
          <a:xfrm>
            <a:off x="571500" y="1190625"/>
            <a:ext cx="5143500" cy="28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g3f7273e53a2_1_105"/>
          <p:cNvPicPr preferRelativeResize="0"/>
          <p:nvPr/>
        </p:nvPicPr>
        <p:blipFill rotWithShape="1">
          <a:blip r:embed="rId4">
            <a:alphaModFix/>
          </a:blip>
          <a:srcRect b="7634" l="0" r="0" t="7642"/>
          <a:stretch/>
        </p:blipFill>
        <p:spPr>
          <a:xfrm>
            <a:off x="6286500" y="762000"/>
            <a:ext cx="5334000" cy="5334000"/>
          </a:xfrm>
          <a:prstGeom prst="roundRect">
            <a:avLst>
              <a:gd fmla="val 4285" name="adj"/>
            </a:avLst>
          </a:prstGeom>
          <a:noFill/>
          <a:ln>
            <a:noFill/>
          </a:ln>
        </p:spPr>
      </p:pic>
      <p:sp>
        <p:nvSpPr>
          <p:cNvPr id="153" name="Google Shape;153;g3f7273e53a2_1_105"/>
          <p:cNvSpPr txBox="1"/>
          <p:nvPr/>
        </p:nvSpPr>
        <p:spPr>
          <a:xfrm>
            <a:off x="571500" y="1476375"/>
            <a:ext cx="5143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Inflatable Kevlar Habitats</a:t>
            </a:r>
            <a:endParaRPr b="0" sz="1800">
              <a:solidFill>
                <a:srgbClr val="00E5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54" name="Google Shape;154;g3f7273e53a2_1_105"/>
          <p:cNvSpPr txBox="1"/>
          <p:nvPr/>
        </p:nvSpPr>
        <p:spPr>
          <a:xfrm>
            <a:off x="904875" y="2000250"/>
            <a:ext cx="49053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Autonomous Shielding:</a:t>
            </a:r>
            <a:r>
              <a:rPr lang="en-US" sz="1300">
                <a:solidFill>
                  <a:srgbClr val="B3B9C5"/>
                </a:solidFill>
                <a:latin typeface="Urbanist"/>
                <a:ea typeface="Urbanist"/>
                <a:cs typeface="Urbanist"/>
                <a:sym typeface="Urbanist"/>
              </a:rPr>
              <a:t> Rovers sinter and pile 2-3 meters of lunar regolith over domes to block Galactic Cosmic Rays and micrometeoroids.</a:t>
            </a:r>
            <a:endParaRPr sz="1300">
              <a:solidFill>
                <a:srgbClr val="B3B9C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" name="Google Shape;155;g3f7273e53a2_1_105"/>
          <p:cNvSpPr txBox="1"/>
          <p:nvPr/>
        </p:nvSpPr>
        <p:spPr>
          <a:xfrm>
            <a:off x="904875" y="3095625"/>
            <a:ext cx="490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Exoskeleton Ribs:</a:t>
            </a:r>
            <a:r>
              <a:rPr lang="en-US" sz="1300">
                <a:solidFill>
                  <a:srgbClr val="B3B9C5"/>
                </a:solidFill>
                <a:latin typeface="Urbanist"/>
                <a:ea typeface="Urbanist"/>
                <a:cs typeface="Urbanist"/>
                <a:sym typeface="Urbanist"/>
              </a:rPr>
              <a:t> 3D-printed external load-bearing ribs distribute the massive weight of the regolith shielding.</a:t>
            </a:r>
            <a:endParaRPr sz="1300">
              <a:solidFill>
                <a:srgbClr val="B3B9C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g3f7273e53a2_1_105"/>
          <p:cNvSpPr txBox="1"/>
          <p:nvPr/>
        </p:nvSpPr>
        <p:spPr>
          <a:xfrm>
            <a:off x="904875" y="4191000"/>
            <a:ext cx="490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Zenith Nodes:</a:t>
            </a:r>
            <a:r>
              <a:rPr lang="en-US" sz="1300">
                <a:solidFill>
                  <a:srgbClr val="B3B9C5"/>
                </a:solidFill>
                <a:latin typeface="Urbanist"/>
                <a:ea typeface="Urbanist"/>
                <a:cs typeface="Urbanist"/>
                <a:sym typeface="Urbanist"/>
              </a:rPr>
              <a:t> Rigid top-mounted caps house optical sensor suites and emergency vertical docking ports.</a:t>
            </a:r>
            <a:endParaRPr sz="1300">
              <a:solidFill>
                <a:srgbClr val="B3B9C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7" name="Google Shape;157;g3f7273e53a2_1_105"/>
          <p:cNvSpPr txBox="1"/>
          <p:nvPr/>
        </p:nvSpPr>
        <p:spPr>
          <a:xfrm>
            <a:off x="904875" y="5286375"/>
            <a:ext cx="490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Reinforced Airlocks:</a:t>
            </a:r>
            <a:r>
              <a:rPr lang="en-US" sz="1300">
                <a:solidFill>
                  <a:srgbClr val="B3B9C5"/>
                </a:solidFill>
                <a:latin typeface="Urbanist"/>
                <a:ea typeface="Urbanist"/>
                <a:cs typeface="Urbanist"/>
                <a:sym typeface="Urbanist"/>
              </a:rPr>
              <a:t> Interconnecting pressure corridors feature ribbed reinforcement to prevent fatigue and depressurization.</a:t>
            </a:r>
            <a:endParaRPr sz="1300">
              <a:solidFill>
                <a:srgbClr val="B3B9C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g3f7273e53a2_1_105"/>
          <p:cNvSpPr txBox="1"/>
          <p:nvPr/>
        </p:nvSpPr>
        <p:spPr>
          <a:xfrm>
            <a:off x="571500" y="2020697"/>
            <a:ext cx="238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E5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grid_view</a:t>
            </a:r>
            <a:endParaRPr sz="1400">
              <a:solidFill>
                <a:srgbClr val="00E5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59" name="Google Shape;159;g3f7273e53a2_1_105"/>
          <p:cNvSpPr txBox="1"/>
          <p:nvPr/>
        </p:nvSpPr>
        <p:spPr>
          <a:xfrm>
            <a:off x="571500" y="3116072"/>
            <a:ext cx="238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E5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blur_circular</a:t>
            </a:r>
            <a:endParaRPr sz="1400">
              <a:solidFill>
                <a:srgbClr val="00E5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60" name="Google Shape;160;g3f7273e53a2_1_105"/>
          <p:cNvSpPr txBox="1"/>
          <p:nvPr/>
        </p:nvSpPr>
        <p:spPr>
          <a:xfrm>
            <a:off x="571500" y="4211447"/>
            <a:ext cx="238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E5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gps_fixed</a:t>
            </a:r>
            <a:endParaRPr sz="1400">
              <a:solidFill>
                <a:srgbClr val="00E5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61" name="Google Shape;161;g3f7273e53a2_1_105"/>
          <p:cNvSpPr txBox="1"/>
          <p:nvPr/>
        </p:nvSpPr>
        <p:spPr>
          <a:xfrm>
            <a:off x="571500" y="5306822"/>
            <a:ext cx="238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E5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sensor_door</a:t>
            </a:r>
            <a:endParaRPr sz="1400">
              <a:solidFill>
                <a:srgbClr val="00E5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62" name="Google Shape;162;g3f7273e53a2_1_105"/>
          <p:cNvGrpSpPr/>
          <p:nvPr/>
        </p:nvGrpSpPr>
        <p:grpSpPr>
          <a:xfrm>
            <a:off x="6276975" y="752475"/>
            <a:ext cx="5153175" cy="5153025"/>
            <a:chOff x="6276975" y="752475"/>
            <a:chExt cx="5153175" cy="5153025"/>
          </a:xfrm>
        </p:grpSpPr>
        <p:pic>
          <p:nvPicPr>
            <p:cNvPr id="163" name="Google Shape;163;g3f7273e53a2_1_10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76975" y="752475"/>
              <a:ext cx="2867100" cy="43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g3f7273e53a2_1_10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72238" y="947738"/>
              <a:ext cx="1343100" cy="3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g3f7273e53a2_1_105"/>
            <p:cNvSpPr txBox="1"/>
            <p:nvPr/>
          </p:nvSpPr>
          <p:spPr>
            <a:xfrm>
              <a:off x="6477000" y="952500"/>
              <a:ext cx="1333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3366"/>
                  </a:solidFill>
                  <a:latin typeface="Urbanist"/>
                  <a:ea typeface="Urbanist"/>
                  <a:cs typeface="Urbanist"/>
                  <a:sym typeface="Urbanist"/>
                </a:rPr>
                <a:t>●</a:t>
              </a:r>
              <a:r>
                <a:rPr b="1" lang="en-US" sz="900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  <a:t>3D SIMULATION</a:t>
              </a:r>
              <a:endParaRPr b="1" sz="900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6" name="Google Shape;166;g3f7273e53a2_1_105"/>
            <p:cNvSpPr txBox="1"/>
            <p:nvPr/>
          </p:nvSpPr>
          <p:spPr>
            <a:xfrm>
              <a:off x="10382250" y="952500"/>
              <a:ext cx="1047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r>
                <a:rPr b="0" lang="en-US" sz="9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ROT: 312°</a:t>
              </a:r>
              <a:endParaRPr b="0" sz="9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grpSp>
          <p:nvGrpSpPr>
            <p:cNvPr id="167" name="Google Shape;167;g3f7273e53a2_1_105"/>
            <p:cNvGrpSpPr/>
            <p:nvPr/>
          </p:nvGrpSpPr>
          <p:grpSpPr>
            <a:xfrm>
              <a:off x="7620075" y="4695825"/>
              <a:ext cx="1143000" cy="833000"/>
              <a:chOff x="7620075" y="4695825"/>
              <a:chExt cx="1143000" cy="833000"/>
            </a:xfrm>
          </p:grpSpPr>
          <p:pic>
            <p:nvPicPr>
              <p:cNvPr id="168" name="Google Shape;168;g3f7273e53a2_1_10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029575" y="4695825"/>
                <a:ext cx="3240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" name="Google Shape;169;g3f7273e53a2_1_10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134350" y="480060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g3f7273e53a2_1_105"/>
              <p:cNvSpPr txBox="1"/>
              <p:nvPr/>
            </p:nvSpPr>
            <p:spPr>
              <a:xfrm>
                <a:off x="7620075" y="5300225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CONNECTING AIRLOCK</a:t>
                </a:r>
                <a:endParaRPr b="1" sz="8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sp>
          <p:nvSpPr>
            <p:cNvPr id="171" name="Google Shape;171;g3f7273e53a2_1_105"/>
            <p:cNvSpPr txBox="1"/>
            <p:nvPr/>
          </p:nvSpPr>
          <p:spPr>
            <a:xfrm>
              <a:off x="6477000" y="560070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E5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3d_rotation</a:t>
              </a:r>
              <a:r>
                <a:rPr b="0" lang="en-US" sz="900">
                  <a:solidFill>
                    <a:srgbClr val="00E5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DRAG TO ROTATE 3D MODEL</a:t>
              </a:r>
              <a:endParaRPr b="0" sz="900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grpSp>
          <p:nvGrpSpPr>
            <p:cNvPr id="172" name="Google Shape;172;g3f7273e53a2_1_105"/>
            <p:cNvGrpSpPr/>
            <p:nvPr/>
          </p:nvGrpSpPr>
          <p:grpSpPr>
            <a:xfrm>
              <a:off x="8382000" y="3552825"/>
              <a:ext cx="1143000" cy="880625"/>
              <a:chOff x="8382000" y="3552825"/>
              <a:chExt cx="1143000" cy="880625"/>
            </a:xfrm>
          </p:grpSpPr>
          <p:pic>
            <p:nvPicPr>
              <p:cNvPr id="173" name="Google Shape;173;g3f7273e53a2_1_10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791575" y="3552825"/>
                <a:ext cx="3240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g3f7273e53a2_1_10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896350" y="365760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g3f7273e53a2_1_10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943975" y="3883226"/>
                <a:ext cx="19200" cy="3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g3f7273e53a2_1_105"/>
              <p:cNvSpPr txBox="1"/>
              <p:nvPr/>
            </p:nvSpPr>
            <p:spPr>
              <a:xfrm>
                <a:off x="8382000" y="420485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EXOSKELETON RIBS</a:t>
                </a:r>
                <a:endParaRPr b="1" sz="8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77" name="Google Shape;177;g3f7273e53a2_1_105"/>
            <p:cNvGrpSpPr/>
            <p:nvPr/>
          </p:nvGrpSpPr>
          <p:grpSpPr>
            <a:xfrm>
              <a:off x="6782925" y="2695575"/>
              <a:ext cx="1143000" cy="911425"/>
              <a:chOff x="6782925" y="2695575"/>
              <a:chExt cx="1143000" cy="911425"/>
            </a:xfrm>
          </p:grpSpPr>
          <p:pic>
            <p:nvPicPr>
              <p:cNvPr id="178" name="Google Shape;178;g3f7273e53a2_1_10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077075" y="2695575"/>
                <a:ext cx="3240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" name="Google Shape;179;g3f7273e53a2_1_10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181850" y="2800350"/>
                <a:ext cx="1143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g3f7273e53a2_1_10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229475" y="3009900"/>
                <a:ext cx="19200" cy="3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" name="Google Shape;181;g3f7273e53a2_1_105"/>
              <p:cNvSpPr txBox="1"/>
              <p:nvPr/>
            </p:nvSpPr>
            <p:spPr>
              <a:xfrm>
                <a:off x="6782925" y="337840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SHIELDING DOME</a:t>
                </a:r>
                <a:endParaRPr b="1" sz="8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pic>
        <p:nvPicPr>
          <p:cNvPr id="182" name="Google Shape;182;g3f7273e53a2_1_10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81700" y="5013300"/>
            <a:ext cx="19200" cy="3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f7191f008a_0_725"/>
          <p:cNvPicPr preferRelativeResize="0"/>
          <p:nvPr/>
        </p:nvPicPr>
        <p:blipFill rotWithShape="1">
          <a:blip r:embed="rId4">
            <a:alphaModFix amt="4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g3f7191f008a_0_725"/>
          <p:cNvGrpSpPr/>
          <p:nvPr/>
        </p:nvGrpSpPr>
        <p:grpSpPr>
          <a:xfrm>
            <a:off x="571500" y="523875"/>
            <a:ext cx="11049000" cy="742950"/>
            <a:chOff x="571500" y="523875"/>
            <a:chExt cx="11049000" cy="742950"/>
          </a:xfrm>
        </p:grpSpPr>
        <p:sp>
          <p:nvSpPr>
            <p:cNvPr id="189" name="Google Shape;189;g3f7191f008a_0_725"/>
            <p:cNvSpPr/>
            <p:nvPr/>
          </p:nvSpPr>
          <p:spPr>
            <a:xfrm>
              <a:off x="571500" y="1228725"/>
              <a:ext cx="11049000" cy="38100"/>
            </a:xfrm>
            <a:prstGeom prst="rect">
              <a:avLst/>
            </a:prstGeom>
            <a:solidFill>
              <a:srgbClr val="00E5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f7191f008a_0_725"/>
            <p:cNvSpPr txBox="1"/>
            <p:nvPr/>
          </p:nvSpPr>
          <p:spPr>
            <a:xfrm>
              <a:off x="571500" y="523875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INTERACTIVE 3D SIMULATION</a:t>
              </a:r>
              <a:endParaRPr b="1" i="0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91" name="Google Shape;191;g3f7191f008a_0_725"/>
          <p:cNvGrpSpPr/>
          <p:nvPr/>
        </p:nvGrpSpPr>
        <p:grpSpPr>
          <a:xfrm>
            <a:off x="571500" y="1714500"/>
            <a:ext cx="6667500" cy="4191000"/>
            <a:chOff x="571500" y="1714500"/>
            <a:chExt cx="6667500" cy="4191000"/>
          </a:xfrm>
        </p:grpSpPr>
        <p:sp>
          <p:nvSpPr>
            <p:cNvPr id="192" name="Google Shape;192;g3f7191f008a_0_725"/>
            <p:cNvSpPr/>
            <p:nvPr/>
          </p:nvSpPr>
          <p:spPr>
            <a:xfrm>
              <a:off x="571500" y="1714500"/>
              <a:ext cx="6667500" cy="4191000"/>
            </a:xfrm>
            <a:prstGeom prst="roundRect">
              <a:avLst>
                <a:gd fmla="val 3636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f7191f008a_0_725"/>
            <p:cNvSpPr txBox="1"/>
            <p:nvPr/>
          </p:nvSpPr>
          <p:spPr>
            <a:xfrm>
              <a:off x="952500" y="2095500"/>
              <a:ext cx="5905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E5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Experience Project Artemis-X in Real-Time</a:t>
              </a:r>
              <a:endParaRPr b="0" i="0" sz="2000" u="none" cap="none" strike="noStrike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rPr>
                <a:t>Step inside the digital twin of our proposed lunar South Pole base. This high-fidelity, interactive 3D blueprint allows you to fully inspect the structural integration, solar arrays, and sub-surface architectures.</a:t>
              </a:r>
              <a:endParaRPr b="0" i="0" sz="135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E5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Key Interactive Features</a:t>
              </a:r>
              <a:endParaRPr b="0" i="0" sz="2000" u="none" cap="none" strike="noStrike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■ Orbital Rotation:</a:t>
              </a:r>
              <a:r>
                <a:rPr b="0" i="0" lang="en-US" sz="1350" u="none" cap="none" strike="noStrike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rPr>
                <a:t> Drag to spin the entire base model and examine the structural distribution.</a:t>
              </a:r>
              <a:endParaRPr b="0" i="0" sz="135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■ Cross-Section Views:</a:t>
              </a:r>
              <a:r>
                <a:rPr b="0" i="0" lang="en-US" sz="1350" u="none" cap="none" strike="noStrike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rPr>
                <a:t> Cut away the 3-meter sintered regolith shields to view interior Kevlar domes.</a:t>
              </a:r>
              <a:endParaRPr b="0" i="0" sz="135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180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■ Asset Inspection:</a:t>
              </a:r>
              <a:r>
                <a:rPr b="0" i="0" lang="en-US" sz="1350" u="none" cap="none" strike="noStrike">
                  <a:solidFill>
                    <a:srgbClr val="B3B9C5"/>
                  </a:solidFill>
                  <a:latin typeface="Lato"/>
                  <a:ea typeface="Lato"/>
                  <a:cs typeface="Lato"/>
                  <a:sym typeface="Lato"/>
                </a:rPr>
                <a:t> Click on individual components like the Zenith Sensor Nodes or vertical solar towers for live telemetry telemetry specifications.</a:t>
              </a:r>
              <a:endParaRPr b="0" i="0" sz="135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4" name="Google Shape;194;g3f7191f008a_0_725"/>
          <p:cNvGrpSpPr/>
          <p:nvPr/>
        </p:nvGrpSpPr>
        <p:grpSpPr>
          <a:xfrm>
            <a:off x="7620000" y="1714500"/>
            <a:ext cx="4000500" cy="4191000"/>
            <a:chOff x="7620000" y="1714500"/>
            <a:chExt cx="4000500" cy="4191000"/>
          </a:xfrm>
        </p:grpSpPr>
        <p:sp>
          <p:nvSpPr>
            <p:cNvPr id="195" name="Google Shape;195;g3f7191f008a_0_725"/>
            <p:cNvSpPr/>
            <p:nvPr/>
          </p:nvSpPr>
          <p:spPr>
            <a:xfrm>
              <a:off x="7620000" y="1714500"/>
              <a:ext cx="4000500" cy="4191000"/>
            </a:xfrm>
            <a:prstGeom prst="roundRect">
              <a:avLst>
                <a:gd fmla="val 3809" name="adj"/>
              </a:avLst>
            </a:prstGeom>
            <a:solidFill>
              <a:srgbClr val="0F172A"/>
            </a:solidFill>
            <a:ln cap="flat" cmpd="sng" w="19050">
              <a:solidFill>
                <a:srgbClr val="00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f7191f008a_0_725"/>
            <p:cNvSpPr txBox="1"/>
            <p:nvPr/>
          </p:nvSpPr>
          <p:spPr>
            <a:xfrm>
              <a:off x="7905750" y="4572000"/>
              <a:ext cx="3429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  <a:t>SCAN TO ROTATE MODEL</a:t>
              </a:r>
              <a:endParaRPr b="1" i="0" sz="16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4A86E8"/>
                  </a:solidFill>
                  <a:latin typeface="Lato"/>
                  <a:ea typeface="Lato"/>
                  <a:cs typeface="Lato"/>
                  <a:sym typeface="Lato"/>
                </a:rPr>
                <a:t>https://debjit-prime.github.io/ARTEMIS-X/</a:t>
              </a:r>
              <a:endParaRPr b="1" i="0" sz="1200" u="none" cap="none" strike="noStrik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8F9CAE"/>
                  </a:solidFill>
                  <a:latin typeface="Lato"/>
                  <a:ea typeface="Lato"/>
                  <a:cs typeface="Lato"/>
                  <a:sym typeface="Lato"/>
                </a:rPr>
                <a:t>Compatible with iOS and Android devices.</a:t>
              </a:r>
              <a:br>
                <a:rPr b="1" i="0" lang="en-US" sz="1100" u="none" cap="none" strike="noStrike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</a:br>
              <a:r>
                <a:rPr b="0" i="0" lang="en-US" sz="1100" u="none" cap="none" strike="noStrike">
                  <a:solidFill>
                    <a:srgbClr val="8F9CAE"/>
                  </a:solidFill>
                  <a:latin typeface="Lato"/>
                  <a:ea typeface="Lato"/>
                  <a:cs typeface="Lato"/>
                  <a:sym typeface="Lato"/>
                </a:rPr>
                <a:t>Instantly launch the WebGL interactive experience.</a:t>
              </a:r>
              <a:endParaRPr b="1" i="0" sz="11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197" name="Google Shape;197;g3f7191f008a_0_7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3838" y="1959974"/>
            <a:ext cx="2512825" cy="25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8775"/>
            <a:ext cx="342900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28775"/>
            <a:ext cx="342900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28775"/>
            <a:ext cx="342900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"/>
          <p:cNvSpPr/>
          <p:nvPr/>
        </p:nvSpPr>
        <p:spPr>
          <a:xfrm>
            <a:off x="581025" y="3938587"/>
            <a:ext cx="34099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019300"/>
            <a:ext cx="7143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"/>
          <p:cNvSpPr txBox="1"/>
          <p:nvPr/>
        </p:nvSpPr>
        <p:spPr>
          <a:xfrm>
            <a:off x="866775" y="3057525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Autonomous Shielding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866775" y="392430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Prior to crew arrival, rovers sinter and pile 2-3 meters of lunar regolith over the inflatable Kevlar domes, providing vital protection against Galactic Cosmic Rays (GCRs).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4391025" y="3938587"/>
            <a:ext cx="34099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019300"/>
            <a:ext cx="7715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"/>
          <p:cNvSpPr txBox="1"/>
          <p:nvPr/>
        </p:nvSpPr>
        <p:spPr>
          <a:xfrm>
            <a:off x="4676775" y="3057525"/>
            <a:ext cx="2400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Exoskeleton Ribs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4676775" y="3562350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The habitat domes feature 3D-printed external structural ribs that evenly distribute the massive, crushing weight of the regolith shielding across the base foundation.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8201025" y="3938587"/>
            <a:ext cx="34099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5" y="2019300"/>
            <a:ext cx="7143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"/>
          <p:cNvSpPr txBox="1"/>
          <p:nvPr/>
        </p:nvSpPr>
        <p:spPr>
          <a:xfrm>
            <a:off x="8486775" y="3057525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Zenith Sensor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8486775" y="392430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Each dome is capped with a rigid zenith node housing optical sensors, emergency ventilation valves, and vertical docking ports for rovers and landing modules.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8" name="Google Shape;218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20980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9650" y="220980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29650" y="220980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STRUCTURAL INTEGRATIONS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28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52387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5025"/>
            <a:ext cx="5238750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 txBox="1"/>
          <p:nvPr/>
        </p:nvSpPr>
        <p:spPr>
          <a:xfrm>
            <a:off x="962025" y="2495550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E5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Power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962025" y="30003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Vertical Solar Towers:</a:t>
            </a: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 Due to the low polar sun angle, standard flat panels fail. We deploy towering bi-facial arrays that track the sun across the horizon.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962025" y="40576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Storage &amp; Failsafe:</a:t>
            </a: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 Regenerative Fuel Cells (RFCs) recombine hydrogen and oxygen at night. A 10kW buried Kilopower fission reactor provides a constant emergency baseline load.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6772275" y="2647950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Water Recovery</a:t>
            </a:r>
            <a:endParaRPr b="0" i="0" sz="1400" u="none" cap="none" strike="noStrike">
              <a:solidFill>
                <a:srgbClr val="4ADE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6772275" y="31527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Ice Sublimation:</a:t>
            </a: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 Autonomous thermal-mining rovers extract water ice from the crater floor, sublimating it into vapor and leaving toxic lunar dust behind.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6772275" y="42100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Closed-Loop ECLSS:</a:t>
            </a:r>
            <a:r>
              <a:rPr b="0" i="0" lang="en-US" sz="1500" u="none" cap="none" strike="noStrike">
                <a:solidFill>
                  <a:srgbClr val="B3B9C5"/>
                </a:solidFill>
                <a:latin typeface="Lato"/>
                <a:ea typeface="Lato"/>
                <a:cs typeface="Lato"/>
                <a:sym typeface="Lato"/>
              </a:rPr>
              <a:t> Water is too heavy to import. We recover 98% of all habitat moisture—including sweat and respiration—via catalytic oxidation and distillation.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ENERGY &amp; HYDRATION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g3f7191f008a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g3f7191f008a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33525"/>
            <a:ext cx="34226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g3f7191f008a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533525"/>
            <a:ext cx="34226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g3f7191f008a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533525"/>
            <a:ext cx="34226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g3f7191f008a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18764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f7191f008a_0_1"/>
          <p:cNvSpPr txBox="1"/>
          <p:nvPr/>
        </p:nvSpPr>
        <p:spPr>
          <a:xfrm>
            <a:off x="876300" y="2724150"/>
            <a:ext cx="174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Oxygen Prod.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7191f008a_0_1"/>
          <p:cNvSpPr txBox="1"/>
          <p:nvPr/>
        </p:nvSpPr>
        <p:spPr>
          <a:xfrm>
            <a:off x="876300" y="3143250"/>
            <a:ext cx="2832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Lunar regolith is ~45% oxygen by weight. </a:t>
            </a:r>
            <a:r>
              <a:rPr b="1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Molten Regolith Electrolysis (MRE)</a:t>
            </a: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 heats soil to 1600°C. An electrical current separates pure breathable oxygen from the magma, leaving useful metal alloys behind.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9" name="Google Shape;249;g3f7191f008a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18764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f7191f008a_0_1"/>
          <p:cNvSpPr txBox="1"/>
          <p:nvPr/>
        </p:nvSpPr>
        <p:spPr>
          <a:xfrm>
            <a:off x="4679900" y="2724150"/>
            <a:ext cx="23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Food (Aeroponics)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7191f008a_0_1"/>
          <p:cNvSpPr txBox="1"/>
          <p:nvPr/>
        </p:nvSpPr>
        <p:spPr>
          <a:xfrm>
            <a:off x="4679900" y="3143250"/>
            <a:ext cx="2832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Food is cultivated in vertical aeroponic greenhouses using 95% less water than soil farming. Narrow-band red and blue LEDs supply exact Photosynthetically Active Radiation (PAR) to minimize power draw.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2" name="Google Shape;252;g3f7191f008a_0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187642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7191f008a_0_1"/>
          <p:cNvSpPr txBox="1"/>
          <p:nvPr/>
        </p:nvSpPr>
        <p:spPr>
          <a:xfrm>
            <a:off x="8483500" y="2724150"/>
            <a:ext cx="194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5. Cyanobacteria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7191f008a_0_1"/>
          <p:cNvSpPr txBox="1"/>
          <p:nvPr/>
        </p:nvSpPr>
        <p:spPr>
          <a:xfrm>
            <a:off x="8483500" y="3143250"/>
            <a:ext cx="2832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Photobioreactors cultivate </a:t>
            </a:r>
            <a:r>
              <a:rPr b="0" i="1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Spirulina</a:t>
            </a: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 (microalgae). It rapidly consumes crew CO₂ output and produces a highly dense, easily harvested source of protein and essential vitamins in low-gravity.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5" name="Google Shape;255;g3f7191f008a_0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8700" y="20288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g3f7191f008a_0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32300" y="20288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g3f7191f008a_0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54950" y="202882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f7191f008a_0_1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ISRU &amp; </a:t>
            </a:r>
            <a:r>
              <a:rPr b="1" i="0" lang="en-US" sz="3000" u="none" cap="none" strike="noStrike">
                <a:solidFill>
                  <a:srgbClr val="1A7B4C"/>
                </a:solidFill>
                <a:latin typeface="Urbanist"/>
                <a:ea typeface="Urbanist"/>
                <a:cs typeface="Urbanist"/>
                <a:sym typeface="Urbanist"/>
              </a:rPr>
              <a:t>Biosystems</a:t>
            </a: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Integration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7191f008a_0_1"/>
          <p:cNvSpPr/>
          <p:nvPr/>
        </p:nvSpPr>
        <p:spPr>
          <a:xfrm>
            <a:off x="581025" y="1133475"/>
            <a:ext cx="11030100" cy="19200"/>
          </a:xfrm>
          <a:prstGeom prst="rect">
            <a:avLst/>
          </a:prstGeom>
          <a:solidFill>
            <a:srgbClr val="005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g3f7191f008a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g3f7191f008a_0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2333"/>
            <a:ext cx="5276850" cy="3805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g3f7191f008a_0_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2333"/>
            <a:ext cx="5276850" cy="3805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g3f7191f008a_0_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4053929"/>
            <a:ext cx="4495800" cy="48160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7191f008a_0_97"/>
          <p:cNvSpPr txBox="1"/>
          <p:nvPr/>
        </p:nvSpPr>
        <p:spPr>
          <a:xfrm>
            <a:off x="971550" y="2392861"/>
            <a:ext cx="47205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6. Waste Management</a:t>
            </a:r>
            <a:endParaRPr b="1" i="0" sz="2400" u="none" cap="none" strike="noStrike">
              <a:solidFill>
                <a:srgbClr val="4ADE8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9" name="Google Shape;269;g3f7191f008a_0_97"/>
          <p:cNvSpPr txBox="1"/>
          <p:nvPr/>
        </p:nvSpPr>
        <p:spPr>
          <a:xfrm>
            <a:off x="971550" y="2897683"/>
            <a:ext cx="44958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The Sabatier Reaction recovers atmospheric gases, combining Carbon Dioxide and Hydrogen to yield Methane (for lander propellant) and Water: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7191f008a_0_97"/>
          <p:cNvSpPr txBox="1"/>
          <p:nvPr/>
        </p:nvSpPr>
        <p:spPr>
          <a:xfrm>
            <a:off x="971550" y="4726037"/>
            <a:ext cx="4495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Solid biological waste is aerobically processed into aeroponic fertilizer, closing the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7191f008a_0_97"/>
          <p:cNvSpPr txBox="1"/>
          <p:nvPr/>
        </p:nvSpPr>
        <p:spPr>
          <a:xfrm>
            <a:off x="6724650" y="2392861"/>
            <a:ext cx="47205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7. Communication Relay</a:t>
            </a:r>
            <a:endParaRPr b="1" i="0" sz="2400" u="none" cap="none" strike="noStrike">
              <a:solidFill>
                <a:srgbClr val="38BDF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g3f7191f008a_0_97"/>
          <p:cNvSpPr txBox="1"/>
          <p:nvPr/>
        </p:nvSpPr>
        <p:spPr>
          <a:xfrm>
            <a:off x="6724650" y="2897683"/>
            <a:ext cx="44958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Primary Uplink:</a:t>
            </a: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 Direct-to-Earth (DTE) Optical (Laser) Communications provide gigabit data rates for real-time telemetry and telemedicine.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7191f008a_0_97"/>
          <p:cNvSpPr txBox="1"/>
          <p:nvPr/>
        </p:nvSpPr>
        <p:spPr>
          <a:xfrm>
            <a:off x="6724650" y="4006304"/>
            <a:ext cx="4495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Relay Architecture:</a:t>
            </a: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 To prevent blackout periods caused by lunar rotation, a dedicated Lunar Relay Satellite in a Near-Rectilinear Halo Orbit (NRHO) establishes 24/7 telecommunications redundancy.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4" name="Google Shape;274;g3f7191f008a_0_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6637" y="4196804"/>
            <a:ext cx="2663725" cy="19585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7191f008a_0_97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Advanced </a:t>
            </a:r>
            <a:r>
              <a:rPr b="1" i="0" lang="en-US" sz="3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Infrastructure</a:t>
            </a:r>
            <a:endParaRPr b="1" i="0" sz="300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g3f7191f008a_0_97"/>
          <p:cNvSpPr/>
          <p:nvPr/>
        </p:nvSpPr>
        <p:spPr>
          <a:xfrm>
            <a:off x="581025" y="1133475"/>
            <a:ext cx="110301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g3f7191f008a_10_4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4287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g3f7191f008a_10_452"/>
          <p:cNvGrpSpPr/>
          <p:nvPr/>
        </p:nvGrpSpPr>
        <p:grpSpPr>
          <a:xfrm>
            <a:off x="571500" y="1413975"/>
            <a:ext cx="11049000" cy="3905400"/>
            <a:chOff x="571500" y="1428750"/>
            <a:chExt cx="11049000" cy="3905400"/>
          </a:xfrm>
        </p:grpSpPr>
        <p:sp>
          <p:nvSpPr>
            <p:cNvPr id="283" name="Google Shape;283;g3f7191f008a_10_452"/>
            <p:cNvSpPr/>
            <p:nvPr/>
          </p:nvSpPr>
          <p:spPr>
            <a:xfrm>
              <a:off x="571500" y="1428750"/>
              <a:ext cx="11049000" cy="3905400"/>
            </a:xfrm>
            <a:prstGeom prst="roundRect">
              <a:avLst>
                <a:gd fmla="val 3902" name="adj"/>
              </a:avLst>
            </a:prstGeom>
            <a:solidFill>
              <a:srgbClr val="090E1A">
                <a:alpha val="85098"/>
              </a:srgbClr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4" name="Google Shape;284;g3f7191f008a_10_4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53" y="1614500"/>
              <a:ext cx="10694100" cy="352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g3f7191f008a_10_45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0088" y="1652588"/>
              <a:ext cx="109500" cy="10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g3f7191f008a_10_4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0088" y="5000625"/>
              <a:ext cx="109500" cy="109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7" name="Google Shape;287;g3f7191f008a_10_452"/>
          <p:cNvPicPr preferRelativeResize="0"/>
          <p:nvPr/>
        </p:nvPicPr>
        <p:blipFill rotWithShape="1">
          <a:blip r:embed="rId7">
            <a:alphaModFix/>
          </a:blip>
          <a:srcRect b="15326" l="0" r="0" t="-5213"/>
          <a:stretch/>
        </p:blipFill>
        <p:spPr>
          <a:xfrm>
            <a:off x="2184750" y="1747425"/>
            <a:ext cx="8375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f7191f008a_10_452"/>
          <p:cNvSpPr txBox="1"/>
          <p:nvPr/>
        </p:nvSpPr>
        <p:spPr>
          <a:xfrm>
            <a:off x="571500" y="523875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PAYLOAD MASS ALLOCATION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7191f008a_10_452"/>
          <p:cNvSpPr txBox="1"/>
          <p:nvPr/>
        </p:nvSpPr>
        <p:spPr>
          <a:xfrm>
            <a:off x="571500" y="5524500"/>
            <a:ext cx="110490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By relying on </a:t>
            </a:r>
            <a:r>
              <a:rPr b="1" i="0" lang="en-US" sz="1350" u="none" cap="none" strike="noStrik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In-Situ Resource Utilization (ISRU) for 85%</a:t>
            </a:r>
            <a:r>
              <a:rPr b="0" i="0" lang="en-US" sz="13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 of the total base mass, Project Artemis-X drastically reduces Earth-launch payload costs and achieves unprecedented mission sustainability.</a:t>
            </a:r>
            <a:endParaRPr b="0" i="0" sz="1350" u="none" cap="none" strike="noStrike">
              <a:solidFill>
                <a:srgbClr val="B0B8C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0" name="Google Shape;290;g3f7191f008a_10_452"/>
          <p:cNvGrpSpPr/>
          <p:nvPr/>
        </p:nvGrpSpPr>
        <p:grpSpPr>
          <a:xfrm>
            <a:off x="571500" y="1095375"/>
            <a:ext cx="3714750" cy="266700"/>
            <a:chOff x="571500" y="1095375"/>
            <a:chExt cx="3714750" cy="266700"/>
          </a:xfrm>
        </p:grpSpPr>
        <p:sp>
          <p:nvSpPr>
            <p:cNvPr id="291" name="Google Shape;291;g3f7191f008a_10_452"/>
            <p:cNvSpPr/>
            <p:nvPr/>
          </p:nvSpPr>
          <p:spPr>
            <a:xfrm>
              <a:off x="571500" y="1095375"/>
              <a:ext cx="1905000" cy="266700"/>
            </a:xfrm>
            <a:prstGeom prst="roundRect">
              <a:avLst>
                <a:gd fmla="val 21428" name="adj"/>
              </a:avLst>
            </a:prstGeom>
            <a:solidFill>
              <a:srgbClr val="00E5FF">
                <a:alpha val="10196"/>
              </a:srgbClr>
            </a:solidFill>
            <a:ln cap="flat" cmpd="sng" w="9525">
              <a:solidFill>
                <a:srgbClr val="00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f7191f008a_10_452"/>
            <p:cNvSpPr txBox="1"/>
            <p:nvPr/>
          </p:nvSpPr>
          <p:spPr>
            <a:xfrm>
              <a:off x="571500" y="1095375"/>
              <a:ext cx="1905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  <a:t>⚡ Telemetry: Active</a:t>
              </a:r>
              <a:endParaRPr b="1" i="0" sz="10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93" name="Google Shape;293;g3f7191f008a_10_452"/>
            <p:cNvSpPr/>
            <p:nvPr/>
          </p:nvSpPr>
          <p:spPr>
            <a:xfrm>
              <a:off x="2571750" y="1095375"/>
              <a:ext cx="1714500" cy="266700"/>
            </a:xfrm>
            <a:prstGeom prst="roundRect">
              <a:avLst>
                <a:gd fmla="val 21428" name="adj"/>
              </a:avLst>
            </a:prstGeom>
            <a:solidFill>
              <a:srgbClr val="1E293B">
                <a:alpha val="50196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f7191f008a_10_452"/>
            <p:cNvSpPr txBox="1"/>
            <p:nvPr/>
          </p:nvSpPr>
          <p:spPr>
            <a:xfrm>
              <a:off x="2571750" y="1095375"/>
              <a:ext cx="1714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Target: 85% ISRU</a:t>
              </a:r>
              <a:endParaRPr b="1" i="0" sz="10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g3f7191f008a_10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g3f7191f008a_10_264"/>
          <p:cNvGrpSpPr/>
          <p:nvPr/>
        </p:nvGrpSpPr>
        <p:grpSpPr>
          <a:xfrm>
            <a:off x="571500" y="1905000"/>
            <a:ext cx="2476500" cy="4095900"/>
            <a:chOff x="571500" y="1905000"/>
            <a:chExt cx="2476500" cy="4095900"/>
          </a:xfrm>
        </p:grpSpPr>
        <p:sp>
          <p:nvSpPr>
            <p:cNvPr id="301" name="Google Shape;301;g3f7191f008a_10_264"/>
            <p:cNvSpPr/>
            <p:nvPr/>
          </p:nvSpPr>
          <p:spPr>
            <a:xfrm>
              <a:off x="571500" y="1905000"/>
              <a:ext cx="2476500" cy="4095900"/>
            </a:xfrm>
            <a:prstGeom prst="roundRect">
              <a:avLst>
                <a:gd fmla="val 6153" name="adj"/>
              </a:avLst>
            </a:prstGeom>
            <a:solidFill>
              <a:srgbClr val="0D1527"/>
            </a:solidFill>
            <a:ln cap="flat" cmpd="sng" w="19050">
              <a:solidFill>
                <a:srgbClr val="00E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f7191f008a_10_264"/>
            <p:cNvSpPr txBox="1"/>
            <p:nvPr/>
          </p:nvSpPr>
          <p:spPr>
            <a:xfrm>
              <a:off x="762000" y="2095500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  <a:t>PHASE 01 • ACTIVE</a:t>
              </a:r>
              <a:endParaRPr b="1" i="0" sz="9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Preparation</a:t>
              </a:r>
              <a:endParaRPr b="1" i="0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B0B8C1"/>
                  </a:solidFill>
                  <a:latin typeface="Lato"/>
                  <a:ea typeface="Lato"/>
                  <a:cs typeface="Lato"/>
                  <a:sym typeface="Lato"/>
                </a:rPr>
                <a:t>Autonomous rovers deploy to Shackleton Crater to sinter regolith foundations and establish initial vertical solar array grids.</a:t>
              </a:r>
              <a:endParaRPr b="0" i="0" sz="11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E5FF"/>
                  </a:solidFill>
                  <a:latin typeface="Urbanist"/>
                  <a:ea typeface="Urbanist"/>
                  <a:cs typeface="Urbanist"/>
                  <a:sym typeface="Urbanist"/>
                </a:rPr>
                <a:t>✓ ROVERS DEPLOYED</a:t>
              </a:r>
              <a:endParaRPr b="1" i="0" sz="10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3" name="Google Shape;303;g3f7191f008a_10_264"/>
          <p:cNvGrpSpPr/>
          <p:nvPr/>
        </p:nvGrpSpPr>
        <p:grpSpPr>
          <a:xfrm>
            <a:off x="3429000" y="1905000"/>
            <a:ext cx="2476500" cy="4095900"/>
            <a:chOff x="3429000" y="1905000"/>
            <a:chExt cx="2476500" cy="4095900"/>
          </a:xfrm>
        </p:grpSpPr>
        <p:sp>
          <p:nvSpPr>
            <p:cNvPr id="304" name="Google Shape;304;g3f7191f008a_10_264"/>
            <p:cNvSpPr/>
            <p:nvPr/>
          </p:nvSpPr>
          <p:spPr>
            <a:xfrm>
              <a:off x="3429000" y="1905000"/>
              <a:ext cx="2476500" cy="4095900"/>
            </a:xfrm>
            <a:prstGeom prst="roundRect">
              <a:avLst>
                <a:gd fmla="val 6153" name="adj"/>
              </a:avLst>
            </a:prstGeom>
            <a:solidFill>
              <a:srgbClr val="0D1527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f7191f008a_10_264"/>
            <p:cNvSpPr txBox="1"/>
            <p:nvPr/>
          </p:nvSpPr>
          <p:spPr>
            <a:xfrm>
              <a:off x="3619500" y="2095500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PHASE 02 • QUEUED</a:t>
              </a:r>
              <a:endParaRPr b="1" i="0" sz="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Construction</a:t>
              </a:r>
              <a:endParaRPr b="1" i="0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B0B8C1"/>
                  </a:solidFill>
                  <a:latin typeface="Lato"/>
                  <a:ea typeface="Lato"/>
                  <a:cs typeface="Lato"/>
                  <a:sym typeface="Lato"/>
                </a:rPr>
                <a:t>Inflatable Kevlar habitats land and pressurize. Rovers bury the modules in 3 meters of regolith shielding.</a:t>
              </a:r>
              <a:endParaRPr b="0" i="0" sz="115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⚡ READY FOR LANDING</a:t>
              </a:r>
              <a:endParaRPr b="1" i="0" sz="1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6" name="Google Shape;306;g3f7191f008a_10_264"/>
          <p:cNvGrpSpPr/>
          <p:nvPr/>
        </p:nvGrpSpPr>
        <p:grpSpPr>
          <a:xfrm>
            <a:off x="6286500" y="1905000"/>
            <a:ext cx="2476500" cy="4095900"/>
            <a:chOff x="6286500" y="1905000"/>
            <a:chExt cx="2476500" cy="4095900"/>
          </a:xfrm>
        </p:grpSpPr>
        <p:sp>
          <p:nvSpPr>
            <p:cNvPr id="307" name="Google Shape;307;g3f7191f008a_10_264"/>
            <p:cNvSpPr/>
            <p:nvPr/>
          </p:nvSpPr>
          <p:spPr>
            <a:xfrm>
              <a:off x="6286500" y="1905000"/>
              <a:ext cx="2476500" cy="4095900"/>
            </a:xfrm>
            <a:prstGeom prst="roundRect">
              <a:avLst>
                <a:gd fmla="val 6153" name="adj"/>
              </a:avLst>
            </a:prstGeom>
            <a:solidFill>
              <a:srgbClr val="0A0F1D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f7191f008a_10_264"/>
            <p:cNvSpPr txBox="1"/>
            <p:nvPr/>
          </p:nvSpPr>
          <p:spPr>
            <a:xfrm>
              <a:off x="6477000" y="2095500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64748B"/>
                  </a:solidFill>
                  <a:highlight>
                    <a:srgbClr val="FFFFFF"/>
                  </a:highlight>
                  <a:latin typeface="Urbanist"/>
                  <a:ea typeface="Urbanist"/>
                  <a:cs typeface="Urbanist"/>
                  <a:sym typeface="Urbanist"/>
                </a:rPr>
                <a:t>PHASE 03 • PENDING</a:t>
              </a:r>
              <a:endParaRPr b="1" i="0" sz="900" u="none" cap="none" strike="noStrike">
                <a:solidFill>
                  <a:srgbClr val="64748B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Integration</a:t>
              </a:r>
              <a:endParaRPr b="1" i="0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ECLSS, Aeroponics, and Molten Regolith Electrolysis systems are brought online and tested autonomously.</a:t>
              </a:r>
              <a:endParaRPr b="0" i="0" sz="11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64748B"/>
                  </a:solidFill>
                  <a:latin typeface="Urbanist"/>
                  <a:ea typeface="Urbanist"/>
                  <a:cs typeface="Urbanist"/>
                  <a:sym typeface="Urbanist"/>
                </a:rPr>
                <a:t>○ ECLSS STAGED</a:t>
              </a:r>
              <a:endParaRPr b="1" i="0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9" name="Google Shape;309;g3f7191f008a_10_264"/>
          <p:cNvGrpSpPr/>
          <p:nvPr/>
        </p:nvGrpSpPr>
        <p:grpSpPr>
          <a:xfrm>
            <a:off x="9144000" y="1905000"/>
            <a:ext cx="2476500" cy="4095900"/>
            <a:chOff x="9144000" y="1905000"/>
            <a:chExt cx="2476500" cy="4095900"/>
          </a:xfrm>
        </p:grpSpPr>
        <p:sp>
          <p:nvSpPr>
            <p:cNvPr id="310" name="Google Shape;310;g3f7191f008a_10_264"/>
            <p:cNvSpPr/>
            <p:nvPr/>
          </p:nvSpPr>
          <p:spPr>
            <a:xfrm>
              <a:off x="9144000" y="1905000"/>
              <a:ext cx="2476500" cy="4095900"/>
            </a:xfrm>
            <a:prstGeom prst="roundRect">
              <a:avLst>
                <a:gd fmla="val 6153" name="adj"/>
              </a:avLst>
            </a:prstGeom>
            <a:solidFill>
              <a:srgbClr val="0A0F1D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f7191f008a_10_264"/>
            <p:cNvSpPr txBox="1"/>
            <p:nvPr/>
          </p:nvSpPr>
          <p:spPr>
            <a:xfrm>
              <a:off x="9334500" y="2095500"/>
              <a:ext cx="20955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64748B"/>
                  </a:solidFill>
                  <a:highlight>
                    <a:srgbClr val="FFFFFF"/>
                  </a:highlight>
                  <a:latin typeface="Urbanist"/>
                  <a:ea typeface="Urbanist"/>
                  <a:cs typeface="Urbanist"/>
                  <a:sym typeface="Urbanist"/>
                </a:rPr>
                <a:t>PHASE 04 • PENDING</a:t>
              </a:r>
              <a:endParaRPr b="1" i="0" sz="900" u="none" cap="none" strike="noStrike">
                <a:solidFill>
                  <a:srgbClr val="64748B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Operations</a:t>
              </a:r>
              <a:endParaRPr b="1" i="0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First crewed landing. Astronauts enter a fully functional, pressurized, and thermally stable biosphere.</a:t>
              </a:r>
              <a:endParaRPr b="0" i="0" sz="11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64748B"/>
                  </a:solidFill>
                  <a:latin typeface="Urbanist"/>
                  <a:ea typeface="Urbanist"/>
                  <a:cs typeface="Urbanist"/>
                  <a:sym typeface="Urbanist"/>
                </a:rPr>
                <a:t>○ CREW ASSIGNED</a:t>
              </a:r>
              <a:endParaRPr b="1" i="0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312" name="Google Shape;312;g3f7191f008a_10_264"/>
          <p:cNvSpPr txBox="1"/>
          <p:nvPr/>
        </p:nvSpPr>
        <p:spPr>
          <a:xfrm>
            <a:off x="581025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Artemis-X </a:t>
            </a:r>
            <a:r>
              <a:rPr b="1" i="0" lang="en-US" sz="3000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Deployment Timeline</a:t>
            </a:r>
            <a:endParaRPr b="0" i="0" sz="1400" u="none" cap="none" strike="noStrike">
              <a:solidFill>
                <a:srgbClr val="00E5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7191f008a_10_264"/>
          <p:cNvSpPr/>
          <p:nvPr/>
        </p:nvSpPr>
        <p:spPr>
          <a:xfrm>
            <a:off x="581025" y="1133475"/>
            <a:ext cx="11030100" cy="19200"/>
          </a:xfrm>
          <a:prstGeom prst="rect">
            <a:avLst/>
          </a:prstGeom>
          <a:solidFill>
            <a:srgbClr val="005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g3f7191f008a_0_2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7191f008a_0_282"/>
          <p:cNvSpPr txBox="1"/>
          <p:nvPr/>
        </p:nvSpPr>
        <p:spPr>
          <a:xfrm>
            <a:off x="372351" y="2157250"/>
            <a:ext cx="11581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Arial"/>
              <a:buNone/>
            </a:pPr>
            <a:r>
              <a:rPr b="1" i="0" lang="en-US" sz="5625" u="none" cap="none" strike="noStrike">
                <a:solidFill>
                  <a:srgbClr val="00E5FF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7191f008a_0_282"/>
          <p:cNvSpPr txBox="1"/>
          <p:nvPr/>
        </p:nvSpPr>
        <p:spPr>
          <a:xfrm>
            <a:off x="648100" y="3262150"/>
            <a:ext cx="1103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0B8C1"/>
                </a:solidFill>
                <a:latin typeface="Lato"/>
                <a:ea typeface="Lato"/>
                <a:cs typeface="Lato"/>
                <a:sym typeface="Lato"/>
              </a:rPr>
              <a:t>Project Artemis-X proves humanity can establish a permanent foothold through sustainable, closed-loop environmental design.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7191f008a_0_282"/>
          <p:cNvSpPr txBox="1"/>
          <p:nvPr/>
        </p:nvSpPr>
        <p:spPr>
          <a:xfrm>
            <a:off x="648100" y="4469741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5B9F"/>
                </a:solidFill>
                <a:latin typeface="Lato"/>
                <a:ea typeface="Lato"/>
                <a:cs typeface="Lato"/>
                <a:sym typeface="Lato"/>
              </a:rPr>
              <a:t>National Space Day: Lunar Base Design Challenge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17640"/>
            <a:ext cx="11049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7"/>
          <p:cNvSpPr txBox="1"/>
          <p:nvPr/>
        </p:nvSpPr>
        <p:spPr>
          <a:xfrm>
            <a:off x="295275" y="2087909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5"/>
              <a:buFont typeface="Arial"/>
              <a:buNone/>
            </a:pPr>
            <a:r>
              <a:rPr b="1" i="0" lang="en-US" sz="63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Mission Ready.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571500" y="3249959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Establishing a permanent, self-sufficient foothold on the lunar surface.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